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25" r:id="rId5"/>
    <p:sldId id="326" r:id="rId6"/>
    <p:sldId id="257" r:id="rId7"/>
    <p:sldId id="341" r:id="rId8"/>
    <p:sldId id="342" r:id="rId9"/>
    <p:sldId id="343" r:id="rId10"/>
    <p:sldId id="344" r:id="rId11"/>
    <p:sldId id="345" r:id="rId12"/>
    <p:sldId id="346" r:id="rId13"/>
    <p:sldId id="264" r:id="rId14"/>
    <p:sldId id="348" r:id="rId15"/>
    <p:sldId id="349" r:id="rId16"/>
    <p:sldId id="34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240" autoAdjust="0"/>
  </p:normalViewPr>
  <p:slideViewPr>
    <p:cSldViewPr snapToGrid="0">
      <p:cViewPr>
        <p:scale>
          <a:sx n="92" d="100"/>
          <a:sy n="92" d="100"/>
        </p:scale>
        <p:origin x="245" y="82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kitha Chereddy" userId="904075b000119404" providerId="LiveId" clId="{AC5BE02A-E6A9-4E26-97C3-6C24F8309B73}"/>
    <pc:docChg chg="delSld modSld sldOrd">
      <pc:chgData name="Likitha Chereddy" userId="904075b000119404" providerId="LiveId" clId="{AC5BE02A-E6A9-4E26-97C3-6C24F8309B73}" dt="2026-04-08T19:33:44.948" v="29" actId="14100"/>
      <pc:docMkLst>
        <pc:docMk/>
      </pc:docMkLst>
      <pc:sldChg chg="ord">
        <pc:chgData name="Likitha Chereddy" userId="904075b000119404" providerId="LiveId" clId="{AC5BE02A-E6A9-4E26-97C3-6C24F8309B73}" dt="2026-04-08T13:48:19.371" v="28"/>
        <pc:sldMkLst>
          <pc:docMk/>
          <pc:sldMk cId="435195399" sldId="257"/>
        </pc:sldMkLst>
      </pc:sldChg>
      <pc:sldChg chg="addSp delSp modSp mod">
        <pc:chgData name="Likitha Chereddy" userId="904075b000119404" providerId="LiveId" clId="{AC5BE02A-E6A9-4E26-97C3-6C24F8309B73}" dt="2026-04-08T19:33:44.948" v="29" actId="14100"/>
        <pc:sldMkLst>
          <pc:docMk/>
          <pc:sldMk cId="837402205" sldId="264"/>
        </pc:sldMkLst>
        <pc:spChg chg="mod">
          <ac:chgData name="Likitha Chereddy" userId="904075b000119404" providerId="LiveId" clId="{AC5BE02A-E6A9-4E26-97C3-6C24F8309B73}" dt="2026-04-08T19:33:44.948" v="29" actId="14100"/>
          <ac:spMkLst>
            <pc:docMk/>
            <pc:sldMk cId="837402205" sldId="264"/>
            <ac:spMk id="2" creationId="{47A9874B-BCA9-8420-1595-EDD1865A099A}"/>
          </ac:spMkLst>
        </pc:spChg>
        <pc:spChg chg="mod">
          <ac:chgData name="Likitha Chereddy" userId="904075b000119404" providerId="LiveId" clId="{AC5BE02A-E6A9-4E26-97C3-6C24F8309B73}" dt="2026-04-05T03:17:49.221" v="20" actId="20577"/>
          <ac:spMkLst>
            <pc:docMk/>
            <pc:sldMk cId="837402205" sldId="264"/>
            <ac:spMk id="3" creationId="{68A5FD2B-E3E5-1C2B-0151-21F216B14A33}"/>
          </ac:spMkLst>
        </pc:spChg>
        <pc:spChg chg="add mod">
          <ac:chgData name="Likitha Chereddy" userId="904075b000119404" providerId="LiveId" clId="{AC5BE02A-E6A9-4E26-97C3-6C24F8309B73}" dt="2026-04-05T03:10:06.708" v="12" actId="255"/>
          <ac:spMkLst>
            <pc:docMk/>
            <pc:sldMk cId="837402205" sldId="264"/>
            <ac:spMk id="5" creationId="{78AD3426-7C6A-E229-070F-87B4101EB970}"/>
          </ac:spMkLst>
        </pc:spChg>
      </pc:sldChg>
      <pc:sldChg chg="modSp mod">
        <pc:chgData name="Likitha Chereddy" userId="904075b000119404" providerId="LiveId" clId="{AC5BE02A-E6A9-4E26-97C3-6C24F8309B73}" dt="2026-04-08T13:01:11.771" v="24" actId="1035"/>
        <pc:sldMkLst>
          <pc:docMk/>
          <pc:sldMk cId="3135690171" sldId="342"/>
        </pc:sldMkLst>
        <pc:picChg chg="mod">
          <ac:chgData name="Likitha Chereddy" userId="904075b000119404" providerId="LiveId" clId="{AC5BE02A-E6A9-4E26-97C3-6C24F8309B73}" dt="2026-04-08T13:01:11.771" v="24" actId="1035"/>
          <ac:picMkLst>
            <pc:docMk/>
            <pc:sldMk cId="3135690171" sldId="342"/>
            <ac:picMk id="7" creationId="{713B393A-7A11-0539-2EA6-C1BA9BD4B3E1}"/>
          </ac:picMkLst>
        </pc:picChg>
      </pc:sldChg>
      <pc:sldChg chg="modSp mod">
        <pc:chgData name="Likitha Chereddy" userId="904075b000119404" providerId="LiveId" clId="{AC5BE02A-E6A9-4E26-97C3-6C24F8309B73}" dt="2026-04-05T03:17:32.428" v="19" actId="20577"/>
        <pc:sldMkLst>
          <pc:docMk/>
          <pc:sldMk cId="838427538" sldId="345"/>
        </pc:sldMkLst>
        <pc:spChg chg="mod">
          <ac:chgData name="Likitha Chereddy" userId="904075b000119404" providerId="LiveId" clId="{AC5BE02A-E6A9-4E26-97C3-6C24F8309B73}" dt="2026-04-05T03:17:32.428" v="19" actId="20577"/>
          <ac:spMkLst>
            <pc:docMk/>
            <pc:sldMk cId="838427538" sldId="345"/>
            <ac:spMk id="9" creationId="{308E7FCC-D8E1-FF5D-FA3D-08567EF69E5C}"/>
          </ac:spMkLst>
        </pc:spChg>
      </pc:sldChg>
      <pc:sldChg chg="modSp mod ord">
        <pc:chgData name="Likitha Chereddy" userId="904075b000119404" providerId="LiveId" clId="{AC5BE02A-E6A9-4E26-97C3-6C24F8309B73}" dt="2026-04-05T03:17:27.807" v="18"/>
        <pc:sldMkLst>
          <pc:docMk/>
          <pc:sldMk cId="935480884" sldId="346"/>
        </pc:sldMkLst>
        <pc:spChg chg="mod">
          <ac:chgData name="Likitha Chereddy" userId="904075b000119404" providerId="LiveId" clId="{AC5BE02A-E6A9-4E26-97C3-6C24F8309B73}" dt="2026-04-05T03:17:26.178" v="16" actId="20577"/>
          <ac:spMkLst>
            <pc:docMk/>
            <pc:sldMk cId="935480884" sldId="346"/>
            <ac:spMk id="5" creationId="{A4E2FD7A-68E2-7EB4-52D3-97CB9D39D02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76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hyperlink" Target="https://doi.org/10.1109/ICHI52183.2021.00092" TargetMode="Externa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09/ICHI52183.2021.00092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2502131"/>
            <a:ext cx="10789920" cy="224443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Information</a:t>
            </a:r>
            <a:br>
              <a:rPr lang="en-US" dirty="0"/>
            </a:b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with BERT</a:t>
            </a:r>
            <a:br>
              <a:rPr lang="en-US" dirty="0"/>
            </a:br>
            <a:endParaRPr 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Presented by: Likitha chowdary chereddy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0A2B5E-47EB-93C8-E1DC-BBE4980EE4A2}"/>
              </a:ext>
            </a:extLst>
          </p:cNvPr>
          <p:cNvSpPr/>
          <p:nvPr/>
        </p:nvSpPr>
        <p:spPr>
          <a:xfrm>
            <a:off x="1896773" y="4222557"/>
            <a:ext cx="8398453" cy="135421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atin typeface="Bahnschrift SemiBold SemiConden" panose="020B0502040204020203" pitchFamily="34" charset="0"/>
                <a:ea typeface="Calibri" pitchFamily="34" charset="-122"/>
                <a:cs typeface="Calibri" pitchFamily="34" charset="-120"/>
              </a:rPr>
              <a:t>Xiong Liu · Greg L. Hersch · Iya Khalil · Murthy Devarakonda</a:t>
            </a:r>
            <a:endParaRPr lang="en-US" sz="2800" dirty="0">
              <a:latin typeface="Bahnschrift SemiBold SemiConden" panose="020B0502040204020203" pitchFamily="34" charset="0"/>
            </a:endParaRPr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924" y="1014153"/>
            <a:ext cx="5079076" cy="61514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at glance</a:t>
            </a:r>
          </a:p>
        </p:txBody>
      </p:sp>
      <p:pic>
        <p:nvPicPr>
          <p:cNvPr id="12" name="Graphic 11" descr="Group brainstorm">
            <a:extLst>
              <a:ext uri="{FF2B5EF4-FFF2-40B4-BE49-F238E27FC236}">
                <a16:creationId xmlns:a16="http://schemas.microsoft.com/office/drawing/2014/main" id="{F50C9F21-9559-E101-2D9C-39991C8411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1658" y="1737362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C0B29A7-87E7-70B2-80A0-2FDC5AFEEE8E}"/>
              </a:ext>
            </a:extLst>
          </p:cNvPr>
          <p:cNvSpPr txBox="1"/>
          <p:nvPr/>
        </p:nvSpPr>
        <p:spPr>
          <a:xfrm>
            <a:off x="1918161" y="1871396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1" i="0" dirty="0">
                <a:solidFill>
                  <a:srgbClr val="2735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</a:p>
          <a:p>
            <a:r>
              <a:rPr lang="nl-NL" b="0" i="0" dirty="0">
                <a:solidFill>
                  <a:srgbClr val="2735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Xiong Liu, Greg L. Hersch, Iya Khalil, Murthy Devarakonda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Graphic 15" descr="Earth globe Americas">
            <a:extLst>
              <a:ext uri="{FF2B5EF4-FFF2-40B4-BE49-F238E27FC236}">
                <a16:creationId xmlns:a16="http://schemas.microsoft.com/office/drawing/2014/main" id="{B5B3B228-90FF-2F8B-4849-9D5CC88401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054" y="2971800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5109124-8B57-DA76-0F05-68D600501EEE}"/>
              </a:ext>
            </a:extLst>
          </p:cNvPr>
          <p:cNvSpPr txBox="1"/>
          <p:nvPr/>
        </p:nvSpPr>
        <p:spPr>
          <a:xfrm>
            <a:off x="1918161" y="3105834"/>
            <a:ext cx="7103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Venue &amp; Year of the Paper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International Conference on Healthcare Informatics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- 2021</a:t>
            </a:r>
          </a:p>
        </p:txBody>
      </p:sp>
      <p:pic>
        <p:nvPicPr>
          <p:cNvPr id="20" name="Graphic 19" descr="Link">
            <a:extLst>
              <a:ext uri="{FF2B5EF4-FFF2-40B4-BE49-F238E27FC236}">
                <a16:creationId xmlns:a16="http://schemas.microsoft.com/office/drawing/2014/main" id="{CD75F566-2B7C-9003-E0A3-044F9F216B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054" y="4301838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F4D3624-2EF1-51BC-4E69-9F2EC7AF99AC}"/>
              </a:ext>
            </a:extLst>
          </p:cNvPr>
          <p:cNvSpPr txBox="1"/>
          <p:nvPr/>
        </p:nvSpPr>
        <p:spPr>
          <a:xfrm>
            <a:off x="1918161" y="4574372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sng" dirty="0">
                <a:solidFill>
                  <a:srgbClr val="0D5EA2"/>
                </a:solidFill>
                <a:effectLst/>
                <a:latin typeface="Lato Extended"/>
                <a:hlinkClick r:id="rId5"/>
              </a:rPr>
              <a:t>https://doi.org/10.1109/ICHI52183.2021.00092</a:t>
            </a:r>
            <a:endParaRPr lang="en-US" dirty="0"/>
          </a:p>
        </p:txBody>
      </p:sp>
      <p:pic>
        <p:nvPicPr>
          <p:cNvPr id="24" name="Graphic 23" descr="List">
            <a:extLst>
              <a:ext uri="{FF2B5EF4-FFF2-40B4-BE49-F238E27FC236}">
                <a16:creationId xmlns:a16="http://schemas.microsoft.com/office/drawing/2014/main" id="{DDA2C715-00C1-DC31-8A3F-E505B4185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054" y="5538647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B620263-FD52-1D7D-C06F-C3A42D7B8DB4}"/>
              </a:ext>
            </a:extLst>
          </p:cNvPr>
          <p:cNvSpPr txBox="1"/>
          <p:nvPr/>
        </p:nvSpPr>
        <p:spPr>
          <a:xfrm>
            <a:off x="1918161" y="5765911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Trial Information Extraction using CT-BERT</a:t>
            </a:r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AB11726-F960-BE1F-D79B-F0FB9EEC1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207" y="-4304"/>
            <a:ext cx="7855527" cy="635924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TOPIC AND OVERVIEW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061B1D-ECAD-0417-82DF-0F08DFBE3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809" y="1335397"/>
            <a:ext cx="5220393" cy="25911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52E109-6E74-3044-3A0A-AEC63C013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809" y="3884942"/>
            <a:ext cx="5220393" cy="1381318"/>
          </a:xfrm>
          <a:prstGeom prst="rect">
            <a:avLst/>
          </a:prstGeom>
        </p:spPr>
      </p:pic>
      <p:sp>
        <p:nvSpPr>
          <p:cNvPr id="14" name="Text 36">
            <a:extLst>
              <a:ext uri="{FF2B5EF4-FFF2-40B4-BE49-F238E27FC236}">
                <a16:creationId xmlns:a16="http://schemas.microsoft.com/office/drawing/2014/main" id="{75EB2F32-3D80-EE40-B9A0-B780315B4EE3}"/>
              </a:ext>
            </a:extLst>
          </p:cNvPr>
          <p:cNvSpPr/>
          <p:nvPr/>
        </p:nvSpPr>
        <p:spPr>
          <a:xfrm>
            <a:off x="7165570" y="556703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95D106-8733-44F9-FE15-374C19EF619C}"/>
              </a:ext>
            </a:extLst>
          </p:cNvPr>
          <p:cNvSpPr txBox="1"/>
          <p:nvPr/>
        </p:nvSpPr>
        <p:spPr>
          <a:xfrm>
            <a:off x="7049191" y="5731626"/>
            <a:ext cx="51684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23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extraction can support new trial design, screening logic, and downstream AI systems built on structured trial criteria.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35EF48-7F81-E8BB-0CB4-1B8B9CE53E6E}"/>
              </a:ext>
            </a:extLst>
          </p:cNvPr>
          <p:cNvSpPr/>
          <p:nvPr/>
        </p:nvSpPr>
        <p:spPr>
          <a:xfrm>
            <a:off x="1119339" y="1736951"/>
            <a:ext cx="5386411" cy="37856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spc="0" normalizeH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Clinical trials contain unstructured eligibility text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spc="0" normalizeH="0" baseline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spc="0" normalizeH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Manual and difficult to extract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spc="0" normalizeH="0" baseline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spc="0" normalizeH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Need structured data for: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spc="0" normalizeH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Trial design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spc="0" normalizeH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Patient matching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spc="0" normalizeH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 analysis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spc="0" normalizeH="0" baseline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spc="0" normalizeH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CT-BERT (BERT-based NER model)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spc="0" normalizeH="0" baseline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spc="0" normalizeH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Goal: Free text → structured clinical variables </a:t>
            </a:r>
            <a:endParaRPr lang="en-US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ED7E-5A74-9BD2-02B8-E53858C35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268" y="149630"/>
            <a:ext cx="3832167" cy="42395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WORK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E57D26-F7D3-376E-554D-5C9713938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" y="871537"/>
            <a:ext cx="10677525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802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8B60-D45C-D40A-7C0A-3D27A2693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825" y="228600"/>
            <a:ext cx="7764087" cy="914400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&amp; Contributions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5B62D-0054-2A0A-911F-866E19430618}"/>
              </a:ext>
            </a:extLst>
          </p:cNvPr>
          <p:cNvSpPr txBox="1"/>
          <p:nvPr/>
        </p:nvSpPr>
        <p:spPr>
          <a:xfrm>
            <a:off x="1047404" y="1143000"/>
            <a:ext cx="9709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"BERT-based NER models fine-tuned on ClinicalTrials.gov data outperform prior baselines in clinical trial information extraction, paving the way for AI-driven clinical trial design."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3B393A-7A11-0539-2EA6-C1BA9BD4B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245" y="1756079"/>
            <a:ext cx="7011378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90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99DAC-5786-4464-28AB-F37691C5F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694" y="170411"/>
            <a:ext cx="10380103" cy="914400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METHODOLOGY: CT-BERT APPROACH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C7751-9DC4-3849-1F08-CA6B6146D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86" y="1084811"/>
            <a:ext cx="11903827" cy="499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765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042C899-6C19-0DD8-17A5-34630ECE7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12222"/>
            <a:ext cx="10446604" cy="1259378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CT-BERT ENTITY TYPE SYSTEM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6BD0EB7-D907-CEC0-F953-F44B6E10E4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57CA60-A917-5EB2-F8EC-039759F3F2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79"/>
          <a:stretch>
            <a:fillRect/>
          </a:stretch>
        </p:blipFill>
        <p:spPr>
          <a:xfrm>
            <a:off x="952500" y="896943"/>
            <a:ext cx="10287000" cy="596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086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E2C2-D86F-82FE-E331-D48912E23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832" y="0"/>
            <a:ext cx="8046720" cy="6192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from the approach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89A4D-A8CA-0AC1-DE14-521E3E223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806" y="1977126"/>
            <a:ext cx="5793281" cy="22706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3425B7-5F99-5B65-9916-600169BD2C36}"/>
              </a:ext>
            </a:extLst>
          </p:cNvPr>
          <p:cNvSpPr txBox="1"/>
          <p:nvPr/>
        </p:nvSpPr>
        <p:spPr>
          <a:xfrm>
            <a:off x="1577341" y="1531913"/>
            <a:ext cx="6097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Comparison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E7FCC-D8E1-FF5D-FA3D-08567EF69E5C}"/>
              </a:ext>
            </a:extLst>
          </p:cNvPr>
          <p:cNvSpPr txBox="1"/>
          <p:nvPr/>
        </p:nvSpPr>
        <p:spPr>
          <a:xfrm>
            <a:off x="7604067" y="2074543"/>
            <a:ext cx="32856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Observations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CT-BERT achieves highest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F1 Score: 0.844 (best)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Att-BiLSTM: 0.802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Criteria2Query: 0.804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2D5407-AAB5-02DF-C4E5-EC4EAA79D6CA}"/>
              </a:ext>
            </a:extLst>
          </p:cNvPr>
          <p:cNvSpPr txBox="1"/>
          <p:nvPr/>
        </p:nvSpPr>
        <p:spPr>
          <a:xfrm>
            <a:off x="371626" y="4771196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BERT-based models outperform traditional methods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pre-training improves 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F88D25-190D-0957-4FA7-6442C7BC8F1C}"/>
              </a:ext>
            </a:extLst>
          </p:cNvPr>
          <p:cNvSpPr txBox="1"/>
          <p:nvPr/>
        </p:nvSpPr>
        <p:spPr>
          <a:xfrm>
            <a:off x="6469010" y="4771196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from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CT-BERT is more effective for clinical-trial NER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BioBERT pre-training contributes to better performance </a:t>
            </a:r>
          </a:p>
        </p:txBody>
      </p:sp>
    </p:spTree>
    <p:extLst>
      <p:ext uri="{BB962C8B-B14F-4D97-AF65-F5344CB8AC3E}">
        <p14:creationId xmlns:p14="http://schemas.microsoft.com/office/powerpoint/2010/main" val="838427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BB27-70A7-1FF6-8D11-CD58910C0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455" y="95597"/>
            <a:ext cx="7115694" cy="577735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of the paper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2FD7A-68E2-7EB4-52D3-97CB9D39D02C}"/>
              </a:ext>
            </a:extLst>
          </p:cNvPr>
          <p:cNvSpPr txBox="1"/>
          <p:nvPr/>
        </p:nvSpPr>
        <p:spPr>
          <a:xfrm>
            <a:off x="1377834" y="1168181"/>
            <a:ext cx="853924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CT-BERT improves clinical-trial NER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highest F1 score (0.844)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Outperforms Att-BiLSTM and Criteria2Query 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BERT-based models are effective for NER tasks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pre-training (BioBERT) improves results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Fine-grained entity types enhance information extraction 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better extraction of clinical trial eligibility criteria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AI-driven clinical trial analysis and design</a:t>
            </a:r>
          </a:p>
        </p:txBody>
      </p:sp>
    </p:spTree>
    <p:extLst>
      <p:ext uri="{BB962C8B-B14F-4D97-AF65-F5344CB8AC3E}">
        <p14:creationId xmlns:p14="http://schemas.microsoft.com/office/powerpoint/2010/main" val="935480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097280"/>
            <a:ext cx="9767455" cy="914400"/>
          </a:xfrm>
          <a:noFill/>
        </p:spPr>
        <p:txBody>
          <a:bodyPr anchor="t" anchorCtr="0"/>
          <a:lstStyle/>
          <a:p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CRITICAL ANALYSIS: DO RESULTS JUSTIFY CONCLUSIONS?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0945" y="2036617"/>
            <a:ext cx="5345084" cy="4696691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STRENGTHS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endParaRPr lang="en-US" sz="16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Publicly available benchmark:
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Used same evaluation set as baselines -fair comparison
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Consistent evaluation metrics:
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Exact entity-type + partial span matching - same as Att-BiLSTM </a:t>
            </a:r>
            <a:r>
              <a:rPr lang="en-US" sz="16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and Criteria2Query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Multiple BERT variants tested:
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models across domain spectrum - provides empirical grounding
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Meaningful improvement: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6232" y="2036616"/>
            <a:ext cx="5345083" cy="4696691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CONCERNS</a:t>
            </a:r>
            <a:endParaRPr lang="en-US" sz="16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endParaRPr lang="en-US" sz="16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Small test set:
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Only 307 criteria sentences — statistical significance of differences unclear
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statistical significance tests:
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p-values or confidence intervals reported — gains may be unstable
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Relation extraction deferred:
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Attribute-entity linking (lower/upper bound) left for extended version
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Single-domain generalizability:
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Tested only on ClinicalTrials.gov — cross-registry performance unknown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8AD3426-7C6A-E229-070F-87B4101EB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5875657"/>
            <a:ext cx="305551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~4% higher F1 than Att-BiLSTM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CT-BERT: 0.844 vs 0.802 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F70A110-A87B-32F9-9DD0-234FBF532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19" y="228600"/>
            <a:ext cx="10222161" cy="914400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WORK &amp; OPEN DIRECTIONS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8AF4B-3814-004C-69E0-673EB57B9EFD}"/>
              </a:ext>
            </a:extLst>
          </p:cNvPr>
          <p:cNvSpPr txBox="1"/>
          <p:nvPr/>
        </p:nvSpPr>
        <p:spPr>
          <a:xfrm>
            <a:off x="1610591" y="1319150"/>
            <a:ext cx="60973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Paper-Implied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relation extraction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attributes to base entities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Improvements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larger and more diverse datasets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statistical significance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detailed error analysis 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end-to-end clinical trial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NER + relation extraction +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52175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CD5F-A8A1-D81E-9F15-0BBE62494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6087" y="868680"/>
            <a:ext cx="5004262" cy="68580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3E19AB-23AD-2614-7F7C-3701FD592D23}"/>
              </a:ext>
            </a:extLst>
          </p:cNvPr>
          <p:cNvSpPr txBox="1"/>
          <p:nvPr/>
        </p:nvSpPr>
        <p:spPr>
          <a:xfrm>
            <a:off x="1261456" y="1972625"/>
            <a:ext cx="100106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X., Hersch, G. L., Khalil, I., &amp; Devarakonda, M. (2021).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trial information extraction with BERT.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 9th International Conference on Healthcare Informatics (ICHI)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https://doi.org/10.1109/ICHI52183.2021.00092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201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 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537364" y="939338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/>
              <a:t>LIKITHA CHOWDARY CHEREDDY| lchereddy@rivier.edu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{FA0EDEC5-FCAB-4C2C-A49C-4D7D03C27948}TF51de1e5f-e0e8-4dd0-99f3-5b7584f7abdc7d30e886_win32-78d4aef5ad8e</Template>
  <TotalTime>1949</TotalTime>
  <Words>565</Words>
  <Application>Microsoft Office PowerPoint</Application>
  <PresentationFormat>Widescreen</PresentationFormat>
  <Paragraphs>85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Bahnschrift SemiBold SemiConden</vt:lpstr>
      <vt:lpstr>Calibri</vt:lpstr>
      <vt:lpstr>Courier New</vt:lpstr>
      <vt:lpstr>Daytona Condensed Light</vt:lpstr>
      <vt:lpstr>Lato Extended</vt:lpstr>
      <vt:lpstr>Posterama</vt:lpstr>
      <vt:lpstr>Times New Roman</vt:lpstr>
      <vt:lpstr>Wingdings</vt:lpstr>
      <vt:lpstr>Custom</vt:lpstr>
      <vt:lpstr>Clinical Trial Information Extraction with BERT </vt:lpstr>
      <vt:lpstr>Paper at glance</vt:lpstr>
      <vt:lpstr>PAPER TOPIC AND OVERVIEW</vt:lpstr>
      <vt:lpstr>PRIOR WORK</vt:lpstr>
      <vt:lpstr>Thesis &amp; Contributions </vt:lpstr>
      <vt:lpstr>METHODOLOGY: CT-BERT APPROACH </vt:lpstr>
      <vt:lpstr>CT-BERT ENTITY TYPE SYSTEM </vt:lpstr>
      <vt:lpstr>Results from the approach </vt:lpstr>
      <vt:lpstr>Conclusion of the paper</vt:lpstr>
      <vt:lpstr>CRITICAL ANALYSIS: DO RESULTS JUSTIFY CONCLUSIONS? </vt:lpstr>
      <vt:lpstr>FUTURE WORK &amp; OPEN DIRECTIONS </vt:lpstr>
      <vt:lpstr>References</vt:lpstr>
      <vt:lpstr>Thank you Questions &amp; discussion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Likitha Chereddy</dc:creator>
  <cp:lastModifiedBy>Likitha Chereddy</cp:lastModifiedBy>
  <cp:revision>2</cp:revision>
  <dcterms:created xsi:type="dcterms:W3CDTF">2026-04-02T21:15:50Z</dcterms:created>
  <dcterms:modified xsi:type="dcterms:W3CDTF">2026-04-09T02:30:41Z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